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0"/>
            <a:ext cx="164592" cy="164592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Real-Time Parcel Damage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4A11D"/>
                </a:solidFill>
              </a:rPr>
              <a:t>Detection System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0B8CC"/>
                </a:solidFill>
              </a:rPr>
              <a:t>YOLOv8 · Roboflow · Power BI  |  Conveyor Belt Quality Control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3B8"/>
                </a:solidFill>
              </a:rPr>
              <a:t>Milestone 1 — System Architecture &amp; Design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56032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11D"/>
                </a:solidFill>
              </a:rPr>
              <a:t>30–40%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560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8"/>
                </a:solidFill>
              </a:rPr>
              <a:t>Miss rate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3B8"/>
                </a:solidFill>
              </a:rPr>
              <a:t>human inspection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56032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05840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11D"/>
                </a:solidFill>
              </a:rPr>
              <a:t>1.5 m/s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1508760"/>
            <a:ext cx="2560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8"/>
                </a:solidFill>
              </a:rPr>
              <a:t>Conveyor belt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3B8"/>
                </a:solidFill>
              </a:rPr>
              <a:t>speed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256032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005840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11D"/>
                </a:solidFill>
              </a:rPr>
              <a:t>792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035040" y="1508760"/>
            <a:ext cx="2560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8"/>
                </a:solidFill>
              </a:rPr>
              <a:t>Annotations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3B8"/>
                </a:solidFill>
              </a:rPr>
              <a:t>our dataset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73152" cy="32004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395728"/>
            <a:ext cx="8229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E-commerce fulfillment centers face a critical quality gap: damaged parcels reaching customers cause returns, refunds, and brand damage.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44952"/>
            <a:ext cx="73152" cy="32004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17520"/>
            <a:ext cx="8229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Current manual inspection by human workers is inconsistent, fatigue-prone, and cannot keep pace with high-speed conveyor belts running at 1.5 m/s.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666744"/>
            <a:ext cx="73152" cy="32004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639312"/>
            <a:ext cx="8229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This project implements an automated AI pipeline using YOLOv8 object detection to identify 5 damage classes in real time, with automatic severity classification and Power BI analytics integration.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88536"/>
            <a:ext cx="73152" cy="32004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261104"/>
            <a:ext cx="8229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The system simulates a live conveyor camera feed using a folder-based image pipeline, making it fully deployable in a college lab environment.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114800" cy="457200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Core Problem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56032" cy="256032"/>
          </a:xfrm>
          <a:prstGeom prst="ellipse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8132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Human inspectors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Miss 30–40% of damage due to fatigue and inconsistency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256032" cy="256032"/>
          </a:xfrm>
          <a:prstGeom prst="ellipse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103120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Speed bottleneck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359152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Belt moves at 1.5 m/s — humans cannot reliably inspect every item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256032" cy="256032"/>
          </a:xfrm>
          <a:prstGeom prst="ellipse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72491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 damage granularity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980944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Staff know a parcel is 'bad' but not what type or how severe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74136"/>
            <a:ext cx="256032" cy="256032"/>
          </a:xfrm>
          <a:prstGeom prst="ellipse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46704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Zero data trail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602736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No logs, no trends, no analytics — root cause is invisible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95928"/>
            <a:ext cx="256032" cy="256032"/>
          </a:xfrm>
          <a:prstGeom prst="ellipse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968496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High cost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224528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One inspector per lane per shift across 24-hour operations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86868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We Need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1508760"/>
            <a:ext cx="256032" cy="256032"/>
          </a:xfrm>
          <a:prstGeom prst="ellipse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1463040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Automated detection at belt speed — no human needed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2130552"/>
            <a:ext cx="256032" cy="256032"/>
          </a:xfrm>
          <a:prstGeom prst="ellipse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2084832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5-class damage identification: crushed, wet, puncture, dirt, tear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2752344"/>
            <a:ext cx="256032" cy="256032"/>
          </a:xfrm>
          <a:prstGeom prst="ellipse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2706624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4-level severity grading that triggers automatic actions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3374136"/>
            <a:ext cx="256032" cy="256032"/>
          </a:xfrm>
          <a:prstGeom prst="ellipse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328416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Real-time logging to Power BI analytics dashboard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995928"/>
            <a:ext cx="256032" cy="256032"/>
          </a:xfrm>
          <a:prstGeom prst="ellipse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3950208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Simulate camera feed from image folder (college project)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 — 5-Layer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5943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1  INPUT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960120"/>
            <a:ext cx="228600" cy="0"/>
          </a:xfrm>
          <a:prstGeom prst="rect">
            <a:avLst/>
          </a:prstGeom>
          <a:noFill/>
          <a:ln w="25400">
            <a:solidFill>
              <a:srgbClr val="1A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822960"/>
            <a:ext cx="6446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822960"/>
            <a:ext cx="6263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Roboflow dataset (195 imgs, 792 annotations) + Folder-based camera simulation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97280" y="1417320"/>
            <a:ext cx="0" cy="210312"/>
          </a:xfrm>
          <a:prstGeom prst="rect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27632"/>
            <a:ext cx="2011680" cy="594360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27632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2  PREPROCESS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1764792"/>
            <a:ext cx="228600" cy="0"/>
          </a:xfrm>
          <a:prstGeom prst="rect">
            <a:avLst/>
          </a:prstGeom>
          <a:noFill/>
          <a:ln w="25400">
            <a:solidFill>
              <a:srgbClr val="1E5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1627632"/>
            <a:ext cx="6446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14600" y="1627632"/>
            <a:ext cx="6263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OpenCV image load → Resize to 640×640 → 3× Roboflow augmentation applied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97280" y="2221992"/>
            <a:ext cx="0" cy="210312"/>
          </a:xfrm>
          <a:prstGeom prst="rect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432304"/>
            <a:ext cx="2011680" cy="594360"/>
          </a:xfrm>
          <a:prstGeom prst="rect">
            <a:avLst/>
          </a:prstGeom>
          <a:solidFill>
            <a:srgbClr val="1677AA"/>
          </a:solidFill>
          <a:ln w="12700">
            <a:solidFill>
              <a:srgbClr val="1677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432304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3  YOLO INFER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2569464"/>
            <a:ext cx="228600" cy="0"/>
          </a:xfrm>
          <a:prstGeom prst="rect">
            <a:avLst/>
          </a:prstGeom>
          <a:noFill/>
          <a:ln w="25400">
            <a:solidFill>
              <a:srgbClr val="1677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23160" y="2432304"/>
            <a:ext cx="6446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14600" y="2432304"/>
            <a:ext cx="6263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RF-DETR / YOLOv8 model → Detects class + confidence + bounding box coordinates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97280" y="3026664"/>
            <a:ext cx="0" cy="210312"/>
          </a:xfrm>
          <a:prstGeom prst="rect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236976"/>
            <a:ext cx="2011680" cy="59436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236976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4  SEVERITY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3374136"/>
            <a:ext cx="228600" cy="0"/>
          </a:xfrm>
          <a:prstGeom prst="rect">
            <a:avLst/>
          </a:prstGeom>
          <a:noFill/>
          <a:ln w="25400">
            <a:solidFill>
              <a:srgbClr val="F4A11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23160" y="3236976"/>
            <a:ext cx="6446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14600" y="3236976"/>
            <a:ext cx="6263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Class → Severity 1–4 → Action trigger: Log / Flag / Divert QC / REJECT+ALERT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97280" y="3831336"/>
            <a:ext cx="0" cy="210312"/>
          </a:xfrm>
          <a:prstGeom prst="rect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041648"/>
            <a:ext cx="2011680" cy="594360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041648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5  OUTPUT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0" y="4178808"/>
            <a:ext cx="228600" cy="0"/>
          </a:xfrm>
          <a:prstGeom prst="rect">
            <a:avLst/>
          </a:prstGeom>
          <a:noFill/>
          <a:ln w="25400">
            <a:solidFill>
              <a:srgbClr val="1DB87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23160" y="4041648"/>
            <a:ext cx="6446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14600" y="4041648"/>
            <a:ext cx="6263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detections.jsonl → Power BI dashboard + Annotated frames saved to disk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4672" y="1417320"/>
            <a:ext cx="18288" cy="21031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" y="2221992"/>
            <a:ext cx="18288" cy="21031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3026664"/>
            <a:ext cx="18288" cy="21031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3831336"/>
            <a:ext cx="18288" cy="21031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&amp; Annotation Classes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116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914400"/>
            <a:ext cx="16459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91440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Annotations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914400"/>
            <a:ext cx="1828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914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Severity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97880" y="914400"/>
            <a:ext cx="22860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91440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389888"/>
            <a:ext cx="201168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389888"/>
            <a:ext cx="64008" cy="420624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389888"/>
            <a:ext cx="190195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B87E"/>
                </a:solidFill>
              </a:rPr>
              <a:t>wet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31720" y="1389888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31720" y="1389888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274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23360" y="1389888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23360" y="1389888"/>
            <a:ext cx="1828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1 — Minor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97880" y="1389888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97880" y="1389888"/>
            <a:ext cx="22860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Log only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1865376"/>
            <a:ext cx="201168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1865376"/>
            <a:ext cx="64008" cy="420624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1865376"/>
            <a:ext cx="190195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F8A"/>
                </a:solidFill>
              </a:rPr>
              <a:t>puncture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31720" y="1865376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31720" y="1865376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205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023360" y="1865376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023360" y="1865376"/>
            <a:ext cx="1828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3 — Major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865376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97880" y="1865376"/>
            <a:ext cx="22860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Divert to QC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2340864"/>
            <a:ext cx="201168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2340864"/>
            <a:ext cx="64008" cy="420624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2340864"/>
            <a:ext cx="190195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B87E"/>
                </a:solidFill>
              </a:rPr>
              <a:t>dirt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331720" y="2340864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331720" y="2340864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160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023360" y="2340864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023360" y="2340864"/>
            <a:ext cx="1828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1 — Minor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897880" y="2340864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897880" y="2340864"/>
            <a:ext cx="22860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Log only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2816352"/>
            <a:ext cx="201168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2816352"/>
            <a:ext cx="64008" cy="42062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2816352"/>
            <a:ext cx="190195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040"/>
                </a:solidFill>
              </a:rPr>
              <a:t>crushed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331720" y="2816352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331720" y="2816352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87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023360" y="2816352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023360" y="2816352"/>
            <a:ext cx="1828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4 — Critical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897880" y="2816352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897880" y="2816352"/>
            <a:ext cx="22860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REJECT + ALERT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74320" y="3291840"/>
            <a:ext cx="201168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74320" y="3291840"/>
            <a:ext cx="64008" cy="42062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3291840"/>
            <a:ext cx="190195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11D"/>
                </a:solidFill>
              </a:rPr>
              <a:t>tear_torn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331720" y="3291840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331720" y="3291840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66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023360" y="3291840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023360" y="3291840"/>
            <a:ext cx="1828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2 — Moderate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897880" y="3291840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897880" y="3291840"/>
            <a:ext cx="22860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Flag for review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74320" y="3950208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48640" y="3977640"/>
            <a:ext cx="1463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11D"/>
                </a:solidFill>
              </a:rPr>
              <a:t>195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548640" y="434340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8"/>
                </a:solidFill>
              </a:rPr>
              <a:t>Original images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267712" y="3977640"/>
            <a:ext cx="1463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11D"/>
                </a:solidFill>
              </a:rPr>
              <a:t>469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2267712" y="434340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8"/>
                </a:solidFill>
              </a:rPr>
              <a:t>After 3× augmentation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986784" y="3977640"/>
            <a:ext cx="1463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11D"/>
                </a:solidFill>
              </a:rPr>
              <a:t>792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3986784" y="434340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8"/>
                </a:solidFill>
              </a:rPr>
              <a:t>Total annotations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705856" y="3977640"/>
            <a:ext cx="1463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11D"/>
                </a:solidFill>
              </a:rPr>
              <a:t>5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5705856" y="434340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8"/>
                </a:solidFill>
              </a:rPr>
              <a:t>Damage classes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424928" y="3977640"/>
            <a:ext cx="1463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11D"/>
                </a:solidFill>
              </a:rPr>
              <a:t>70/20/10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7424928" y="434340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8"/>
                </a:solidFill>
              </a:rPr>
              <a:t>Train/Val/Test split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 Faced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160520" cy="41148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4160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 Challenges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35608"/>
            <a:ext cx="146304" cy="146304"/>
          </a:xfrm>
          <a:prstGeom prst="ellipse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3611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Only 195 images — too few for production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146304" cy="146304"/>
          </a:xfrm>
          <a:prstGeom prst="ellipse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28800"/>
            <a:ext cx="3611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Class imbalance: wet=274 vs tear_torn=66 (4× gap)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146304" cy="146304"/>
          </a:xfrm>
          <a:prstGeom prst="ellipse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86000"/>
            <a:ext cx="3611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No conveyor-belt-specific images available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86868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868680"/>
            <a:ext cx="4160520" cy="41148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868680"/>
            <a:ext cx="4160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Training Challenges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1435608"/>
            <a:ext cx="146304" cy="146304"/>
          </a:xfrm>
          <a:prstGeom prst="ellipse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371600"/>
            <a:ext cx="3611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Low baseline mAP of 26.9% on first run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1892808"/>
            <a:ext cx="146304" cy="146304"/>
          </a:xfrm>
          <a:prstGeom prst="ellipse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828800"/>
            <a:ext cx="3611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Overfitting risk with small dataset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350008"/>
            <a:ext cx="146304" cy="146304"/>
          </a:xfrm>
          <a:prstGeom prst="ellipse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286000"/>
            <a:ext cx="3611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GPU not available — slow CPU training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95351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53512"/>
            <a:ext cx="4160520" cy="411480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953512"/>
            <a:ext cx="4160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Inference Challenges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146304" cy="146304"/>
          </a:xfrm>
          <a:prstGeom prst="ellipse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456432"/>
            <a:ext cx="3611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No physical camera — simulated with folder feed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146304" cy="146304"/>
          </a:xfrm>
          <a:prstGeom prst="ellipse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13632"/>
            <a:ext cx="3611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False positives on clean parcels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146304" cy="146304"/>
          </a:xfrm>
          <a:prstGeom prst="ellipse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370832"/>
            <a:ext cx="3611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JSONL output format not native to Power BI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95351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953512"/>
            <a:ext cx="4160520" cy="41148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953512"/>
            <a:ext cx="4160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Integration Challenges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937760" y="3520440"/>
            <a:ext cx="146304" cy="146304"/>
          </a:xfrm>
          <a:prstGeom prst="ellipse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456432"/>
            <a:ext cx="3611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Power BI requires CSV not JSONL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3977640"/>
            <a:ext cx="146304" cy="146304"/>
          </a:xfrm>
          <a:prstGeom prst="ellipse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913632"/>
            <a:ext cx="3611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Severity grading is rule-based, not learned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37760" y="4434840"/>
            <a:ext cx="146304" cy="146304"/>
          </a:xfrm>
          <a:prstGeom prst="ellipse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4370832"/>
            <a:ext cx="3611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Multi-camera support not yet implemented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Solutions &amp; How We Addressed Each Challenge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37744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040"/>
                </a:solidFill>
              </a:rPr>
              <a:t>⚠ Too few images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822960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17520" y="822960"/>
            <a:ext cx="5852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7520" y="822960"/>
            <a:ext cx="64008" cy="548640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822960"/>
            <a:ext cx="5669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3× Roboflow augmentation → 195 to 469 images using flip, rotation, blur, brightness, noise, crop, saturation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517904"/>
            <a:ext cx="237744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17904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040"/>
                </a:solidFill>
              </a:rPr>
              <a:t>⚠ Class imbalance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1517904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17520" y="1517904"/>
            <a:ext cx="5852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17520" y="1517904"/>
            <a:ext cx="64008" cy="548640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17904"/>
            <a:ext cx="5669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Merge tear + torn into tear_torn. Apply 3× augmentation to oversample minority classes automatically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212848"/>
            <a:ext cx="237744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212848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040"/>
                </a:solidFill>
              </a:rPr>
              <a:t>⚠ No camera hardware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2212848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017520" y="2212848"/>
            <a:ext cx="5852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17520" y="2212848"/>
            <a:ext cx="64008" cy="548640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2212848"/>
            <a:ext cx="5669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Folder-based image feed using Python glob + time.sleep(0.3) — identical to live camera from pipeline perspective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237744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907792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040"/>
                </a:solidFill>
              </a:rPr>
              <a:t>⚠ Low mAP (26.9%)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7480" y="2907792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017520" y="2907792"/>
            <a:ext cx="5852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017520" y="2907792"/>
            <a:ext cx="64008" cy="548640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2907792"/>
            <a:ext cx="5669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Switch to RF-DETR Small (better for small datasets), augment, increase epochs, and class-weight training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602736"/>
            <a:ext cx="237744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602736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040"/>
                </a:solidFill>
              </a:rPr>
              <a:t>⚠ Binary models only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97480" y="3602736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8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017520" y="3602736"/>
            <a:ext cx="5852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017520" y="3602736"/>
            <a:ext cx="64008" cy="548640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54680" y="3602736"/>
            <a:ext cx="5669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5-class YOLOv8 with bounding boxes — detect WHERE damage is AND what type, with multiple detections per parcel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297680"/>
            <a:ext cx="237744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29768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040"/>
                </a:solidFill>
              </a:rPr>
              <a:t>⚠ No analytics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97480" y="4297680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8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017520" y="4297680"/>
            <a:ext cx="5852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017520" y="4297680"/>
            <a:ext cx="64008" cy="548640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54680" y="4297680"/>
            <a:ext cx="5669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Every detection logged to JSONL → converted to CSV → Power BI star-schema dashboard with shift/lane/class breakdown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Real-Time Inference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463040" cy="13716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Image Folder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1463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AF0"/>
                </a:solidFill>
              </a:rPr>
              <a:t>test/images/*.jpg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234440"/>
            <a:ext cx="274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3B8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0" y="868680"/>
            <a:ext cx="1463040" cy="1371600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96012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 &amp; Resize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1417320"/>
            <a:ext cx="1463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AF0"/>
                </a:solidFill>
              </a:rPr>
              <a:t>OpenCV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AF0"/>
                </a:solidFill>
              </a:rPr>
              <a:t>640×640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1234440"/>
            <a:ext cx="274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3B8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868680"/>
            <a:ext cx="1463040" cy="1371600"/>
          </a:xfrm>
          <a:prstGeom prst="rect">
            <a:avLst/>
          </a:prstGeom>
          <a:solidFill>
            <a:srgbClr val="1677AA"/>
          </a:solidFill>
          <a:ln w="12700">
            <a:solidFill>
              <a:srgbClr val="1677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96012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YOLO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1417320"/>
            <a:ext cx="1463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AF0"/>
                </a:solidFill>
              </a:rPr>
              <a:t>RF-DETR Small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AF0"/>
                </a:solidFill>
              </a:rPr>
              <a:t>damage_v1.pt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1234440"/>
            <a:ext cx="274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3B8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0" y="868680"/>
            <a:ext cx="1463040" cy="137160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96012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Severity Engine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1417320"/>
            <a:ext cx="1463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Class → Level 1–4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Action trigger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0" y="1234440"/>
            <a:ext cx="274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3B8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23760" y="868680"/>
            <a:ext cx="1463040" cy="1371600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96012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JSONL Log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1417320"/>
            <a:ext cx="1463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AF0"/>
                </a:solidFill>
              </a:rPr>
              <a:t>detections.jsonl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AF0"/>
                </a:solidFill>
              </a:rPr>
              <a:t>→ Power BI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468880"/>
            <a:ext cx="8595360" cy="2468880"/>
          </a:xfrm>
          <a:prstGeom prst="rect">
            <a:avLst/>
          </a:prstGeom>
          <a:solidFill>
            <a:srgbClr val="0D1B2A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2606040"/>
            <a:ext cx="8229600" cy="2240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Simulated real-time inference loop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images = sorted(glob.glob('dataset/test/images/*.jpg'))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img_path in images: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frame  = cv2.imread(img_path)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results = model(frame)  # YOLOv8 inference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box in results.boxes: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severity = CLASS_CONFIG[class_name]['severity']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action   = CLASS_CONFIG[class_name]['action']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log_to_jsonl(class_name, severity, action)   # → Power BI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time.sleep(0.3)  # simulate belt speed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Training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023360" cy="4572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Baseline (195 images, no augment)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mAP@50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463040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84040"/>
                </a:solidFill>
              </a:rPr>
              <a:t>26.9%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Precision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121408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84040"/>
                </a:solidFill>
              </a:rPr>
              <a:t>30.5%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2779776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Recall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779776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84040"/>
                </a:solidFill>
              </a:rPr>
              <a:t>39.1%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3438144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F1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3438144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84040"/>
                </a:solidFill>
              </a:rPr>
              <a:t>34.3%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46320" y="82296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822960"/>
            <a:ext cx="4023360" cy="457200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82296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After Augmentation (469 images)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46304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mAP@50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146304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DB87E"/>
                </a:solidFill>
              </a:rPr>
              <a:t>45–55%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0" y="2121408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Precision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0" y="2121408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DB87E"/>
                </a:solidFill>
              </a:rPr>
              <a:t>50–60%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0" y="2779776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Recall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0" y="2779776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DB87E"/>
                </a:solidFill>
              </a:rPr>
              <a:t>55–65%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29200" y="3438144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F1 Score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0" y="3438144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DB87E"/>
                </a:solidFill>
              </a:rPr>
              <a:t>50–60%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297680" y="2103120"/>
            <a:ext cx="5486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FA3B8"/>
                </a:solidFill>
              </a:rPr>
              <a:t>VS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D4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681728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B5200"/>
                </a:solidFill>
              </a:rPr>
              <a:t>Key insight: Single augmentation step expected to improve mAP by +18–28 percentage points. Weak classes (tear_torn, crushed) still need additional images for production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321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 &amp; Future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11D"/>
                </a:solidFill>
              </a:rPr>
              <a:t>What We Achieved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82880" cy="182880"/>
          </a:xfrm>
          <a:prstGeom prst="ellipse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1732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</a:rPr>
              <a:t>5-class damage detection with YOLOv8 / RF-DETR architecture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182880" cy="182880"/>
          </a:xfrm>
          <a:prstGeom prst="ellipse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9384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</a:rPr>
              <a:t>Roboflow dataset: 195 images → 469 after 3× augmentation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182880" cy="182880"/>
          </a:xfrm>
          <a:prstGeom prst="ellipse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41448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</a:rPr>
              <a:t>Severity engine: 4-level grading with automatic action triggers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182880" cy="182880"/>
          </a:xfrm>
          <a:prstGeom prst="ellipse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53512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</a:rPr>
              <a:t>Python inference pipeline with folder-based camera simulation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511296"/>
            <a:ext cx="182880" cy="182880"/>
          </a:xfrm>
          <a:prstGeom prst="ellipse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65576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</a:rPr>
              <a:t>Power BI integration via JSONL → CSV logging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11D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182880" cy="182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41732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</a:rPr>
              <a:t>Physical GigE camera at actual conveyor belt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975104"/>
            <a:ext cx="182880" cy="182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929384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</a:rPr>
              <a:t>NVIDIA Jetson Nano edge deployment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487168"/>
            <a:ext cx="182880" cy="182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441448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</a:rPr>
              <a:t>Multi-camera (4–6 cameras per lane)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99232"/>
            <a:ext cx="182880" cy="182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F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953512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</a:rPr>
              <a:t>Carrier-specific model fine-tuning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11296"/>
            <a:ext cx="182880" cy="182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F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465576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</a:rPr>
              <a:t>Expert-labeled severity ground truth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434840"/>
            <a:ext cx="8595360" cy="53035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434840"/>
            <a:ext cx="85953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8"/>
                </a:solidFill>
              </a:rPr>
              <a:t>YOLOv8 + Roboflow + Power BI  |  Real-Time Parcel Damage Detection System  |  Milestone 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5368</Words>
  <Application>WPS Presentation</Application>
  <PresentationFormat>On-screen Show (16:9)</PresentationFormat>
  <Paragraphs>348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Consolas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Parcel Damage Detection</dc:title>
  <dc:creator>PptxGenJS</dc:creator>
  <dc:subject>PptxGenJS Presentation</dc:subject>
  <cp:lastModifiedBy>Madugula Nandini</cp:lastModifiedBy>
  <cp:revision>3</cp:revision>
  <dcterms:created xsi:type="dcterms:W3CDTF">2026-06-08T05:19:00Z</dcterms:created>
  <dcterms:modified xsi:type="dcterms:W3CDTF">2026-06-08T05:54:57Z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09C36D9D73CF4433A29EF80C6A7F133C_13</vt:lpwstr>
  </property>
</Properties>
</file>